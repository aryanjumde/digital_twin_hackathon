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Heebo"/>
      <p:regular r:id="rId201315"/>
    </p:embeddedFont>
    <p:embeddedFont>
      <p:font typeface="Heebo SemiBold"/>
      <p:regular r:id="rId201316"/>
    </p:embeddedFont>
    <p:embeddedFont>
      <p:font typeface="Heebo Bold"/>
      <p:regular r:id="rId201317"/>
    </p:embeddedFont>
    <p:embeddedFont>
      <p:font typeface="Inter Tight"/>
      <p:regular r:id="rId201318"/>
    </p:embeddedFont>
    <p:embeddedFont>
      <p:font typeface="Inter Tight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8EF0D1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HEALTHCARE AI + DIGITAL TWIN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1374" y="2050455"/>
            <a:ext cx="10108947" cy="2095500"/>
          </a:xfrm>
          <a:prstGeom prst="rect">
            <a:avLst/>
          </a:prstGeom>
          <a:noFill/>
          <a:ln/>
        </p:spPr>
        <p:txBody>
          <a:bodyPr wrap="none" lIns="0" tIns="349242" rIns="0" bIns="349242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GlucoTwin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1041374" y="3812580"/>
            <a:ext cx="10108947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Predict the next glucose spike before it becomes the next clinical problem.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5757664"/>
            <a:ext cx="5257668" cy="49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F5F7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Team:</a:t>
            </a:r>
            <a:pPr algn="l" indent="0" marL="0">
              <a:lnSpc>
                <a:spcPct val="113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5F5F7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pPr algn="l" indent="0" marL="0">
              <a:lnSpc>
                <a:spcPct val="113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TwinPulse AI</a:t>
            </a:r>
            <a:endParaRPr lang="en-US" sz="12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Team Member: Aryan Vinod Jumde (Leader)</a:t>
            </a:r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F5F5F7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24442" y="5757664"/>
            <a:ext cx="525766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3000"/>
              </a:lnSpc>
              <a:buNone/>
            </a:pPr>
            <a:r>
              <a:rPr lang="en-US" sz="1200" b="1" dirty="0">
                <a:solidFill>
                  <a:srgbClr val="F5F5F7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College / incubator: Ramdeobaba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33" kern="100" dirty="0">
                <a:solidFill>
                  <a:srgbClr val="FF756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23925"/>
            <a:ext cx="5257668" cy="3907036"/>
          </a:xfrm>
          <a:prstGeom prst="rect">
            <a:avLst/>
          </a:prstGeom>
          <a:noFill/>
          <a:ln/>
        </p:spPr>
        <p:txBody>
          <a:bodyPr wrap="square" lIns="0" tIns="217058" rIns="0" bIns="217058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85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Metabolic care is still too often retrospective</a:t>
            </a:r>
            <a:endParaRPr lang="en-US" sz="6850" dirty="0"/>
          </a:p>
        </p:txBody>
      </p:sp>
      <p:sp>
        <p:nvSpPr>
          <p:cNvPr id="4" name="Shape 2"/>
          <p:cNvSpPr/>
          <p:nvPr/>
        </p:nvSpPr>
        <p:spPr>
          <a:xfrm>
            <a:off x="6324442" y="912316"/>
            <a:ext cx="5257668" cy="3930253"/>
          </a:xfrm>
          <a:prstGeom prst="rect">
            <a:avLst/>
          </a:prstGeom>
          <a:solidFill>
            <a:srgbClr val="171F35"/>
          </a:solidFill>
          <a:ln/>
        </p:spPr>
      </p:sp>
      <p:sp>
        <p:nvSpPr>
          <p:cNvPr id="5" name="Text 3"/>
          <p:cNvSpPr/>
          <p:nvPr/>
        </p:nvSpPr>
        <p:spPr>
          <a:xfrm>
            <a:off x="6553036" y="1082278"/>
            <a:ext cx="4800480" cy="398859"/>
          </a:xfrm>
          <a:prstGeom prst="rect">
            <a:avLst/>
          </a:prstGeom>
          <a:noFill/>
          <a:ln/>
        </p:spPr>
        <p:txBody>
          <a:bodyPr wrap="none" lIns="0" tIns="58664" rIns="0" bIns="58664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8EF0D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gap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553036" y="1506438"/>
            <a:ext cx="4800480" cy="707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F5F5F7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Post-meal glucose surges can form between routine check-ins.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Static EHR snapshots and isolated readings miss continuous physiological context.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585" y="4948238"/>
            <a:ext cx="5333867" cy="1913334"/>
          </a:xfrm>
          <a:prstGeom prst="rect">
            <a:avLst/>
          </a:prstGeom>
          <a:solidFill>
            <a:srgbClr val="171F35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5176838"/>
            <a:ext cx="4876678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Patients and clinicians lack a clear way to test how meals, sleep, and movement change near-term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8244" y="4948238"/>
            <a:ext cx="5333867" cy="1913334"/>
          </a:xfrm>
          <a:prstGeom prst="rect">
            <a:avLst/>
          </a:prstGeom>
          <a:solidFill>
            <a:srgbClr val="FF7568"/>
          </a:solidFill>
          <a:ln/>
        </p:spPr>
      </p:sp>
      <p:sp>
        <p:nvSpPr>
          <p:cNvPr id="10" name="Text 8"/>
          <p:cNvSpPr/>
          <p:nvPr/>
        </p:nvSpPr>
        <p:spPr>
          <a:xfrm>
            <a:off x="6476838" y="5036046"/>
            <a:ext cx="4876678" cy="1407914"/>
          </a:xfrm>
          <a:prstGeom prst="rect">
            <a:avLst/>
          </a:prstGeom>
          <a:noFill/>
          <a:ln/>
        </p:spPr>
        <p:txBody>
          <a:bodyPr wrap="square" lIns="0" tIns="140794" rIns="0" bIns="140794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50" dirty="0">
                <a:solidFill>
                  <a:srgbClr val="0B102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2-hour early warning</a:t>
            </a:r>
            <a:endParaRPr lang="en-US" sz="4450" dirty="0"/>
          </a:p>
        </p:txBody>
      </p:sp>
      <p:sp>
        <p:nvSpPr>
          <p:cNvPr id="11" name="Text 9"/>
          <p:cNvSpPr/>
          <p:nvPr/>
        </p:nvSpPr>
        <p:spPr>
          <a:xfrm>
            <a:off x="6476838" y="6419652"/>
            <a:ext cx="510527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B102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GlucoTwin reframes the workflow around a 2-hour early warning.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585" y="6469261"/>
            <a:ext cx="11884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GlucoTwin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FF756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RISK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645120"/>
            <a:ext cx="10972526" cy="2349500"/>
          </a:xfrm>
          <a:prstGeom prst="rect">
            <a:avLst/>
          </a:prstGeom>
          <a:noFill/>
          <a:ln/>
        </p:spPr>
        <p:txBody>
          <a:bodyPr wrap="square" lIns="0" tIns="234944" rIns="0" bIns="234944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 risk question drives the entire system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990575" y="3048595"/>
            <a:ext cx="10210545" cy="1524000"/>
          </a:xfrm>
          <a:prstGeom prst="rect">
            <a:avLst/>
          </a:prstGeom>
          <a:noFill/>
          <a:ln/>
        </p:spPr>
        <p:txBody>
          <a:bodyPr wrap="square" lIns="0" tIns="152396" rIns="0" bIns="152396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8EF0D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Will glucose rise by at least 40 mg/dL within the next 2 hours?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09585" y="4787404"/>
            <a:ext cx="311142" cy="311150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3757" y="4854079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585" y="5098554"/>
            <a:ext cx="2514537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Observed window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5528370"/>
            <a:ext cx="2514537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Historical sensor data from t−2h to t plus static EHR context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8914" y="4787404"/>
            <a:ext cx="311142" cy="311150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3086" y="4854079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8914" y="5098554"/>
            <a:ext cx="2514537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Prediction horizon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28914" y="5528370"/>
            <a:ext cx="2514537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t+15m to t+2h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8244" y="4787404"/>
            <a:ext cx="311142" cy="311150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2416" y="4854079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48244" y="5098554"/>
            <a:ext cx="2514537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Target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48244" y="5528370"/>
            <a:ext cx="251453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Spike = 1 when the maximum future rise reaches the threshold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67573" y="4787404"/>
            <a:ext cx="311142" cy="311150"/>
          </a:xfrm>
          <a:prstGeom prst="ellipse">
            <a:avLst/>
          </a:prstGeom>
          <a:solidFill>
            <a:srgbClr val="1D1D1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21745" y="4854079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67573" y="5098554"/>
            <a:ext cx="2514537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Leakage guard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67573" y="5528370"/>
            <a:ext cx="251453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Future readings are removed before features are built or models are trained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9585" y="6469261"/>
            <a:ext cx="11884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GlucoTwin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79463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FF756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DIGITAL TWIN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14983"/>
            <a:ext cx="10972526" cy="3289300"/>
          </a:xfrm>
          <a:prstGeom prst="rect">
            <a:avLst/>
          </a:prstGeom>
          <a:noFill/>
          <a:ln/>
        </p:spPr>
        <p:txBody>
          <a:bodyPr wrap="square" lIns="0" tIns="234944" rIns="0" bIns="234944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twin turns disconnected signals into a living patient state</a:t>
            </a:r>
            <a:endParaRPr lang="en-US" sz="7400" dirty="0"/>
          </a:p>
        </p:txBody>
      </p:sp>
      <p:sp>
        <p:nvSpPr>
          <p:cNvPr id="4" name="Shape 2"/>
          <p:cNvSpPr/>
          <p:nvPr/>
        </p:nvSpPr>
        <p:spPr>
          <a:xfrm>
            <a:off x="609585" y="4123333"/>
            <a:ext cx="2514537" cy="1955105"/>
          </a:xfrm>
          <a:prstGeom prst="rect">
            <a:avLst/>
          </a:prstGeom>
          <a:solidFill>
            <a:srgbClr val="171F35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4351933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38179" y="4600873"/>
            <a:ext cx="2057349" cy="1905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4663083"/>
            <a:ext cx="2057349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Ingest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179" y="5129808"/>
            <a:ext cx="2057349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EHR profile, CGM, heart rate, HRV, steps, sleep, and meal carbohydrates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8914" y="4123333"/>
            <a:ext cx="2514537" cy="1955105"/>
          </a:xfrm>
          <a:prstGeom prst="rect">
            <a:avLst/>
          </a:prstGeom>
          <a:solidFill>
            <a:srgbClr val="171F3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509" y="4351933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509" y="4600873"/>
            <a:ext cx="2057349" cy="1905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509" y="4663083"/>
            <a:ext cx="2057349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Remember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509" y="5129808"/>
            <a:ext cx="2057349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Maintain a rolling 15-minute sensor history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8244" y="4123333"/>
            <a:ext cx="2514537" cy="1955105"/>
          </a:xfrm>
          <a:prstGeom prst="rect">
            <a:avLst/>
          </a:prstGeom>
          <a:solidFill>
            <a:srgbClr val="171F35"/>
          </a:solidFill>
          <a:ln/>
        </p:spPr>
      </p:sp>
      <p:sp>
        <p:nvSpPr>
          <p:cNvPr id="15" name="Text 13"/>
          <p:cNvSpPr/>
          <p:nvPr/>
        </p:nvSpPr>
        <p:spPr>
          <a:xfrm>
            <a:off x="6476838" y="4351933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76838" y="4600873"/>
            <a:ext cx="2057349" cy="1905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17" name="Text 15"/>
          <p:cNvSpPr/>
          <p:nvPr/>
        </p:nvSpPr>
        <p:spPr>
          <a:xfrm>
            <a:off x="6476838" y="4663083"/>
            <a:ext cx="2057349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Compute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76838" y="5129808"/>
            <a:ext cx="2057349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Update 35+ trends, rolling statistics, meal lags, and physiological interactions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67573" y="4123333"/>
            <a:ext cx="2514537" cy="1955105"/>
          </a:xfrm>
          <a:prstGeom prst="rect">
            <a:avLst/>
          </a:prstGeom>
          <a:solidFill>
            <a:srgbClr val="FF7568"/>
          </a:solidFill>
          <a:ln/>
        </p:spPr>
      </p:sp>
      <p:sp>
        <p:nvSpPr>
          <p:cNvPr id="20" name="Text 18"/>
          <p:cNvSpPr/>
          <p:nvPr/>
        </p:nvSpPr>
        <p:spPr>
          <a:xfrm>
            <a:off x="9296167" y="4351933"/>
            <a:ext cx="81228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296167" y="4600873"/>
            <a:ext cx="2057349" cy="1905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22" name="Text 20"/>
          <p:cNvSpPr/>
          <p:nvPr/>
        </p:nvSpPr>
        <p:spPr>
          <a:xfrm>
            <a:off x="9296167" y="4663083"/>
            <a:ext cx="2057349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B102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96167" y="5129808"/>
            <a:ext cx="2057349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102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Predict, explain, and simulate the next intervention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9585" y="6469261"/>
            <a:ext cx="11884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GlucoTwin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FF756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645120"/>
            <a:ext cx="10972526" cy="3289300"/>
          </a:xfrm>
          <a:prstGeom prst="rect">
            <a:avLst/>
          </a:prstGeom>
          <a:noFill/>
          <a:ln/>
        </p:spPr>
        <p:txBody>
          <a:bodyPr wrap="square" lIns="0" tIns="234944" rIns="0" bIns="234944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technical stack is modular from data to dashboard</a:t>
            </a:r>
            <a:endParaRPr lang="en-US" sz="7400" dirty="0"/>
          </a:p>
        </p:txBody>
      </p:sp>
      <p:sp>
        <p:nvSpPr>
          <p:cNvPr id="4" name="Shape 2"/>
          <p:cNvSpPr/>
          <p:nvPr/>
        </p:nvSpPr>
        <p:spPr>
          <a:xfrm>
            <a:off x="609585" y="3823295"/>
            <a:ext cx="2514537" cy="2553791"/>
          </a:xfrm>
          <a:prstGeom prst="rect">
            <a:avLst/>
          </a:prstGeom>
          <a:solidFill>
            <a:srgbClr val="171F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4051895"/>
            <a:ext cx="444489" cy="44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4518620"/>
            <a:ext cx="2057349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EF0D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 &amp; modeling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8179" y="4948436"/>
            <a:ext cx="2057349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Python 3.10+, synthetic physiology generator, preprocessing, StandardScaler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28914" y="3823295"/>
            <a:ext cx="2514537" cy="2553791"/>
          </a:xfrm>
          <a:prstGeom prst="rect">
            <a:avLst/>
          </a:prstGeom>
          <a:solidFill>
            <a:srgbClr val="171F3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9" y="4051895"/>
            <a:ext cx="444489" cy="444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509" y="4518620"/>
            <a:ext cx="2057349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EF0D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/ ML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657509" y="4948436"/>
            <a:ext cx="2057349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Logistic Regression, Random Forest, XGBoost, SHAP TreeExplainer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48244" y="3823295"/>
            <a:ext cx="2514537" cy="2553791"/>
          </a:xfrm>
          <a:prstGeom prst="rect">
            <a:avLst/>
          </a:prstGeom>
          <a:solidFill>
            <a:srgbClr val="171F3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838" y="4051895"/>
            <a:ext cx="444489" cy="444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76838" y="4518620"/>
            <a:ext cx="2057349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EF0D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Backend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476838" y="4948436"/>
            <a:ext cx="2057349" cy="120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FastAPI async REST endpoints for patients, prediction, explanation, simulation, and benchmarks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9067573" y="3823295"/>
            <a:ext cx="2514537" cy="2553791"/>
          </a:xfrm>
          <a:prstGeom prst="rect">
            <a:avLst/>
          </a:prstGeom>
          <a:solidFill>
            <a:srgbClr val="FF756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167" y="4051895"/>
            <a:ext cx="444489" cy="4445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96167" y="4518620"/>
            <a:ext cx="2057349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B102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9296167" y="4948436"/>
            <a:ext cx="2057349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102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React 18, Vite, Tailwind CSS, Lucide icons, Recharts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09585" y="6469261"/>
            <a:ext cx="11884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GlucoTwin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87537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FF756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123057"/>
            <a:ext cx="10972526" cy="2349500"/>
          </a:xfrm>
          <a:prstGeom prst="rect">
            <a:avLst/>
          </a:prstGeom>
          <a:noFill/>
          <a:ln/>
        </p:spPr>
        <p:txBody>
          <a:bodyPr wrap="square" lIns="0" tIns="234944" rIns="0" bIns="234944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architecture closes the loop in five layers</a:t>
            </a:r>
            <a:endParaRPr lang="en-US" sz="7400" dirty="0"/>
          </a:p>
        </p:txBody>
      </p:sp>
      <p:sp>
        <p:nvSpPr>
          <p:cNvPr id="4" name="Shape 2"/>
          <p:cNvSpPr/>
          <p:nvPr/>
        </p:nvSpPr>
        <p:spPr>
          <a:xfrm>
            <a:off x="609585" y="3491607"/>
            <a:ext cx="2194465" cy="2278856"/>
          </a:xfrm>
          <a:prstGeom prst="rect">
            <a:avLst/>
          </a:prstGeom>
          <a:solidFill>
            <a:srgbClr val="171F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3491607"/>
            <a:ext cx="2194465" cy="711200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6" name="Shape 4"/>
          <p:cNvSpPr/>
          <p:nvPr/>
        </p:nvSpPr>
        <p:spPr>
          <a:xfrm>
            <a:off x="620697" y="3502720"/>
            <a:ext cx="2172142" cy="688876"/>
          </a:xfrm>
          <a:prstGeom prst="rect">
            <a:avLst/>
          </a:prstGeom>
          <a:solidFill>
            <a:srgbClr val="EEEEF2"/>
          </a:solidFill>
          <a:ln/>
        </p:spPr>
      </p:sp>
      <p:sp>
        <p:nvSpPr>
          <p:cNvPr id="7" name="Text 5"/>
          <p:cNvSpPr/>
          <p:nvPr/>
        </p:nvSpPr>
        <p:spPr>
          <a:xfrm>
            <a:off x="1630818" y="3713857"/>
            <a:ext cx="7615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87380" y="4202807"/>
            <a:ext cx="1838874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 ingestion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7380" y="4632623"/>
            <a:ext cx="1838874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EHR + 15-minute wearables + nutrition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04050" y="3491607"/>
            <a:ext cx="2194465" cy="2278856"/>
          </a:xfrm>
          <a:prstGeom prst="rect">
            <a:avLst/>
          </a:prstGeom>
          <a:solidFill>
            <a:srgbClr val="171F35"/>
          </a:solidFill>
          <a:ln/>
        </p:spPr>
      </p:sp>
      <p:sp>
        <p:nvSpPr>
          <p:cNvPr id="11" name="Shape 9"/>
          <p:cNvSpPr/>
          <p:nvPr/>
        </p:nvSpPr>
        <p:spPr>
          <a:xfrm>
            <a:off x="2804050" y="3491607"/>
            <a:ext cx="2194465" cy="711200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2815162" y="3502720"/>
            <a:ext cx="2172142" cy="688876"/>
          </a:xfrm>
          <a:prstGeom prst="rect">
            <a:avLst/>
          </a:prstGeom>
          <a:solidFill>
            <a:srgbClr val="EEEEF2"/>
          </a:solidFill>
          <a:ln/>
        </p:spPr>
      </p:sp>
      <p:sp>
        <p:nvSpPr>
          <p:cNvPr id="13" name="Text 11"/>
          <p:cNvSpPr/>
          <p:nvPr/>
        </p:nvSpPr>
        <p:spPr>
          <a:xfrm>
            <a:off x="3825283" y="3713857"/>
            <a:ext cx="7615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981846" y="4202807"/>
            <a:ext cx="1838874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Feature engine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81846" y="4632623"/>
            <a:ext cx="1838874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Trends, rolling statistics, meal lag, sleep and stress indices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98516" y="3491607"/>
            <a:ext cx="2194565" cy="2278856"/>
          </a:xfrm>
          <a:prstGeom prst="rect">
            <a:avLst/>
          </a:prstGeom>
          <a:solidFill>
            <a:srgbClr val="171F35"/>
          </a:solidFill>
          <a:ln/>
        </p:spPr>
      </p:sp>
      <p:sp>
        <p:nvSpPr>
          <p:cNvPr id="17" name="Shape 15"/>
          <p:cNvSpPr/>
          <p:nvPr/>
        </p:nvSpPr>
        <p:spPr>
          <a:xfrm>
            <a:off x="4998516" y="3491607"/>
            <a:ext cx="2194565" cy="711200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18" name="Shape 16"/>
          <p:cNvSpPr/>
          <p:nvPr/>
        </p:nvSpPr>
        <p:spPr>
          <a:xfrm>
            <a:off x="5009628" y="3502720"/>
            <a:ext cx="2172340" cy="688876"/>
          </a:xfrm>
          <a:prstGeom prst="rect">
            <a:avLst/>
          </a:prstGeom>
          <a:solidFill>
            <a:srgbClr val="EEEEF2"/>
          </a:solidFill>
          <a:ln/>
        </p:spPr>
      </p:sp>
      <p:sp>
        <p:nvSpPr>
          <p:cNvPr id="19" name="Text 17"/>
          <p:cNvSpPr/>
          <p:nvPr/>
        </p:nvSpPr>
        <p:spPr>
          <a:xfrm>
            <a:off x="6019749" y="3713857"/>
            <a:ext cx="7615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176311" y="4202807"/>
            <a:ext cx="1838974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Digital Twin core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76311" y="4632623"/>
            <a:ext cx="1838974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State history, recalibration, and state cloning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93080" y="3491607"/>
            <a:ext cx="2194465" cy="2278856"/>
          </a:xfrm>
          <a:prstGeom prst="rect">
            <a:avLst/>
          </a:prstGeom>
          <a:solidFill>
            <a:srgbClr val="171F35"/>
          </a:solidFill>
          <a:ln/>
        </p:spPr>
      </p:sp>
      <p:sp>
        <p:nvSpPr>
          <p:cNvPr id="23" name="Shape 21"/>
          <p:cNvSpPr/>
          <p:nvPr/>
        </p:nvSpPr>
        <p:spPr>
          <a:xfrm>
            <a:off x="7193080" y="3491607"/>
            <a:ext cx="2194465" cy="711200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24" name="Shape 22"/>
          <p:cNvSpPr/>
          <p:nvPr/>
        </p:nvSpPr>
        <p:spPr>
          <a:xfrm>
            <a:off x="7204192" y="3502720"/>
            <a:ext cx="2172142" cy="688876"/>
          </a:xfrm>
          <a:prstGeom prst="rect">
            <a:avLst/>
          </a:prstGeom>
          <a:solidFill>
            <a:srgbClr val="EEEEF2"/>
          </a:solidFill>
          <a:ln/>
        </p:spPr>
      </p:sp>
      <p:sp>
        <p:nvSpPr>
          <p:cNvPr id="25" name="Text 23"/>
          <p:cNvSpPr/>
          <p:nvPr/>
        </p:nvSpPr>
        <p:spPr>
          <a:xfrm>
            <a:off x="8214313" y="3713857"/>
            <a:ext cx="7615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4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370876" y="4202807"/>
            <a:ext cx="1838874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5F5F7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ML + XAI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70876" y="4632623"/>
            <a:ext cx="1838874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9C1D4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XGBoost risk probability and SHAP feature attributions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387546" y="3491607"/>
            <a:ext cx="2194565" cy="2278856"/>
          </a:xfrm>
          <a:prstGeom prst="rect">
            <a:avLst/>
          </a:prstGeom>
          <a:solidFill>
            <a:srgbClr val="FF7568"/>
          </a:solidFill>
          <a:ln/>
        </p:spPr>
      </p:sp>
      <p:sp>
        <p:nvSpPr>
          <p:cNvPr id="29" name="Shape 27"/>
          <p:cNvSpPr/>
          <p:nvPr/>
        </p:nvSpPr>
        <p:spPr>
          <a:xfrm>
            <a:off x="9387546" y="3491607"/>
            <a:ext cx="2194565" cy="711200"/>
          </a:xfrm>
          <a:prstGeom prst="rect">
            <a:avLst/>
          </a:prstGeom>
          <a:solidFill>
            <a:srgbClr val="D4D4D8"/>
          </a:solidFill>
          <a:ln/>
        </p:spPr>
      </p:sp>
      <p:sp>
        <p:nvSpPr>
          <p:cNvPr id="30" name="Shape 28"/>
          <p:cNvSpPr/>
          <p:nvPr/>
        </p:nvSpPr>
        <p:spPr>
          <a:xfrm>
            <a:off x="9398658" y="3502720"/>
            <a:ext cx="2172340" cy="688876"/>
          </a:xfrm>
          <a:prstGeom prst="rect">
            <a:avLst/>
          </a:prstGeom>
          <a:solidFill>
            <a:srgbClr val="EEEEF2"/>
          </a:solidFill>
          <a:ln/>
        </p:spPr>
      </p:sp>
      <p:sp>
        <p:nvSpPr>
          <p:cNvPr id="31" name="Text 29"/>
          <p:cNvSpPr/>
          <p:nvPr/>
        </p:nvSpPr>
        <p:spPr>
          <a:xfrm>
            <a:off x="10408779" y="3713857"/>
            <a:ext cx="7615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5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565341" y="4202807"/>
            <a:ext cx="1838974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B102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Clinician UI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65341" y="4632623"/>
            <a:ext cx="1838974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102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FastAPI, React, signal charts, alerts, and scenario sliders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9585" y="6469261"/>
            <a:ext cx="11884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GlucoTwin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35993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BENCHMARK · MODEL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592163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XGBoost catches the risky moments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391569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Optimized for high recall, the benchmark flags most future glucose spikes while keeping the signal measurable for clinical review.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755404"/>
          <a:ext cx="10972526" cy="914400"/>
        </p:xfrm>
        <a:graphic>
          <a:graphicData uri="http://schemas.openxmlformats.org/drawingml/2006/table">
            <a:tbl>
              <a:tblPr/>
              <a:tblGrid>
                <a:gridCol w="3657475"/>
                <a:gridCol w="3657475"/>
                <a:gridCol w="3657575"/>
              </a:tblGrid>
              <a:tr h="38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Metric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Score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Readout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Precision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0.2831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Prioritizes coverage over alert volume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Recall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0.8782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Catches 87.82% of positive events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F1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0.4272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Balances precision and recall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ROC-AUC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0.8716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Strong ranking across thresholds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0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PR-AUC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0.5053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Useful signal under class imbalance</a:t>
                      </a:r>
                      <a:endParaRPr lang="en-US" sz="14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64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5216227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benchmark is a research signal—not a diagnosis or treatment recommendation.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585" y="6469261"/>
            <a:ext cx="11884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GlucoTwin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41872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EXPLAINABILITY · SHAP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798042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Every prediction comes with a why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597448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SHAP turns the XGBoost score into a transparent set of risk drivers and protective signals.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961283"/>
            <a:ext cx="5257668" cy="1925241"/>
          </a:xfrm>
          <a:prstGeom prst="rect">
            <a:avLst/>
          </a:prstGeom>
          <a:solidFill>
            <a:srgbClr val="241A26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126383"/>
            <a:ext cx="4800480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Risk drivers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9" y="3593108"/>
            <a:ext cx="4800480" cy="10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Current glucose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Meal carbohydrates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Rising glucose trend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Sleep deficit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4442" y="2961283"/>
            <a:ext cx="5257668" cy="1925241"/>
          </a:xfrm>
          <a:prstGeom prst="rect">
            <a:avLst/>
          </a:prstGeom>
          <a:solidFill>
            <a:srgbClr val="122A2A"/>
          </a:solidFill>
          <a:ln/>
        </p:spPr>
      </p:sp>
      <p:sp>
        <p:nvSpPr>
          <p:cNvPr id="9" name="Text 7"/>
          <p:cNvSpPr/>
          <p:nvPr/>
        </p:nvSpPr>
        <p:spPr>
          <a:xfrm>
            <a:off x="6553036" y="3126383"/>
            <a:ext cx="4800480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Protective signals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53036" y="3593108"/>
            <a:ext cx="4800480" cy="10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Recent steps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HRV recovery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Stable recent trajectory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Recovery after movement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585" y="5010348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ranked explanation helps a researcher inspect the model before acting on its output.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585" y="6469261"/>
            <a:ext cx="11884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GlucoTwin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41872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WHAT-IF SIMULATION · DIGITAL TWIN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798042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Test an intervention before the next spike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597448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What-if sliders let a user explore how a small behavior change could shift the predicted trajectory.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961283"/>
            <a:ext cx="4526147" cy="1925241"/>
          </a:xfrm>
          <a:prstGeom prst="rect">
            <a:avLst/>
          </a:prstGeom>
          <a:solidFill>
            <a:srgbClr val="241A26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126383"/>
            <a:ext cx="4068958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Before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9" y="3593108"/>
            <a:ext cx="4068958" cy="10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Large meal load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post-meal movement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Low recovery signal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Higher predicted risk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92821" y="2984599"/>
            <a:ext cx="1005954" cy="1409700"/>
          </a:xfrm>
          <a:prstGeom prst="rect">
            <a:avLst/>
          </a:prstGeom>
          <a:noFill/>
          <a:ln/>
        </p:spPr>
        <p:txBody>
          <a:bodyPr wrap="none" lIns="0" tIns="234944" rIns="0" bIns="234944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→</a:t>
            </a:r>
            <a:endParaRPr lang="en-US" sz="7400" dirty="0"/>
          </a:p>
        </p:txBody>
      </p:sp>
      <p:sp>
        <p:nvSpPr>
          <p:cNvPr id="9" name="Text 7"/>
          <p:cNvSpPr/>
          <p:nvPr/>
        </p:nvSpPr>
        <p:spPr>
          <a:xfrm>
            <a:off x="5592821" y="4422477"/>
            <a:ext cx="100595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simulate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55864" y="2961283"/>
            <a:ext cx="4526246" cy="1925241"/>
          </a:xfrm>
          <a:prstGeom prst="rect">
            <a:avLst/>
          </a:prstGeom>
          <a:solidFill>
            <a:srgbClr val="122A2A"/>
          </a:solidFill>
          <a:ln/>
        </p:spPr>
      </p:sp>
      <p:sp>
        <p:nvSpPr>
          <p:cNvPr id="11" name="Text 9"/>
          <p:cNvSpPr/>
          <p:nvPr/>
        </p:nvSpPr>
        <p:spPr>
          <a:xfrm>
            <a:off x="7284458" y="3126383"/>
            <a:ext cx="4069058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After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84458" y="3593108"/>
            <a:ext cx="4069058" cy="10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Adjusted carbohydrate input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Short walk added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Recovery restored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Lower predicted risk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5" y="5010348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simulation is a comparison tool: change inputs, inspect the response, and keep the original context visible.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585" y="6469261"/>
            <a:ext cx="11884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GlucoTwin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12758" y="6469261"/>
            <a:ext cx="67893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23839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PRODUCT EXPERIENCE ·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980009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From model output to a usable research workflow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944515"/>
            <a:ext cx="4978275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Built for iteration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3411240"/>
            <a:ext cx="4978275" cy="78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FastAPI service for model and DigitalTwin endpoints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React 18 interface bundled with Vite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Recharts for glucose trajectories and model signals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92553" y="2779415"/>
            <a:ext cx="5689557" cy="1925241"/>
          </a:xfrm>
          <a:prstGeom prst="rect">
            <a:avLst/>
          </a:prstGeom>
          <a:solidFill>
            <a:srgbClr val="122A2A"/>
          </a:solidFill>
          <a:ln/>
        </p:spPr>
      </p:sp>
      <p:sp>
        <p:nvSpPr>
          <p:cNvPr id="7" name="Text 5"/>
          <p:cNvSpPr/>
          <p:nvPr/>
        </p:nvSpPr>
        <p:spPr>
          <a:xfrm>
            <a:off x="6121148" y="2944515"/>
            <a:ext cx="5232368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 clear loop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21148" y="3411240"/>
            <a:ext cx="5232368" cy="10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Review the current glucose context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Inspect SHAP drivers and protective signals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Move what-if sliders for meals, movement, sleep, and recovery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Compare the before/after trajectory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585" y="4828480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focused dashboard keeps the prediction, explanation, and experiment in one place.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585" y="6469261"/>
            <a:ext cx="118841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GlucoTwin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43505" y="6469261"/>
            <a:ext cx="74819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17116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OUTCOME ·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373287"/>
            <a:ext cx="10972526" cy="1325761"/>
          </a:xfrm>
          <a:prstGeom prst="rect">
            <a:avLst/>
          </a:prstGeom>
          <a:noFill/>
          <a:ln/>
        </p:spPr>
        <p:txBody>
          <a:bodyPr wrap="square" lIns="0" tIns="114297" rIns="0" bIns="114297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foundation for safer, more explainable glucose research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657773"/>
            <a:ext cx="5511662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What is in the prototype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3124498"/>
            <a:ext cx="5511662" cy="10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Synthetic data pipeline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35+ engineered features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Stateful DigitalTwin class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XGBoost benchmark with SHAP explainability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25940" y="2657773"/>
            <a:ext cx="5156170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Next on the roadmap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25940" y="3124498"/>
            <a:ext cx="5156170" cy="10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Validate against richer cohorts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Calibrate thresholds with domain experts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Test longitudinal intervention scenarios</a:t>
            </a:r>
            <a:endParaRPr lang="en-US" sz="1400" dirty="0"/>
          </a:p>
          <a:p>
            <a:pPr algn="l" marL="284480" indent="-28448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Harden monitoring, auditability, and consent flows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585" y="4313138"/>
            <a:ext cx="10972526" cy="1327745"/>
          </a:xfrm>
          <a:prstGeom prst="roundRect">
            <a:avLst>
              <a:gd name="adj" fmla="val 12052"/>
            </a:avLst>
          </a:prstGeom>
          <a:solidFill>
            <a:srgbClr val="4B3F0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380" y="4543326"/>
            <a:ext cx="333367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543" y="4535388"/>
            <a:ext cx="101057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Research only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298543" y="4938613"/>
            <a:ext cx="1010577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prototype is not medical advice, is not a diagnostic device, and must not be used to make treatment decisions. Any future clinical use requires rigorous validation, oversight, and regulatory review.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2026-10-03T10:41:55Z</dcterms:created>
  <dcterms:modified xsi:type="dcterms:W3CDTF">2026-10-03T10:41:55Z</dcterms:modified>
</cp:coreProperties>
</file>